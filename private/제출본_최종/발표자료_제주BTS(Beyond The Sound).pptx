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8F7"/>
    <a:srgbClr val="002E60"/>
    <a:srgbClr val="000000"/>
    <a:srgbClr val="40A4DF"/>
    <a:srgbClr val="EEE7E4"/>
    <a:srgbClr val="C0C662"/>
    <a:srgbClr val="F4BB4F"/>
    <a:srgbClr val="F58E5E"/>
    <a:srgbClr val="F5636D"/>
    <a:srgbClr val="3EB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6" autoAdjust="0"/>
    <p:restoredTop sz="94211" autoAdjust="0"/>
  </p:normalViewPr>
  <p:slideViewPr>
    <p:cSldViewPr snapToGrid="0">
      <p:cViewPr varScale="1">
        <p:scale>
          <a:sx n="83" d="100"/>
          <a:sy n="83" d="100"/>
        </p:scale>
        <p:origin x="771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1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41724887-4280-4D3D-9743-3FCB1D129449}" type="datetimeFigureOut">
              <a:rPr lang="ko-KR" altLang="en-US" smtClean="0"/>
              <a:pPr/>
              <a:t>2026-07-26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337FA3E6-53C5-43DA-B016-C497AC63D3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22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D20550-5404-82DC-FD2F-7FBC1F4DB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4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08763E-C4FB-4DD3-D67E-E42BA6E68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129143-B21B-85D8-014A-66B1B85B62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2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F21976F-0898-722F-3F86-3933BDAC04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B6A2C8-E69E-0BC7-971E-4982875A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73514-C4E6-ABD4-2E2F-4153C0B62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925BC-E13C-B523-250F-82A2F7BA5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242FC-EDE5-47C5-AF4C-FACF03AD8511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1E957-7B4C-2389-5C7A-0FF01658D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C3358-C8F4-BBBB-550C-29C5BC594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3BB1A-41F7-416F-9A1F-FF8B61C9EA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3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4253CF-E9AC-F6D3-109D-C98FC6B30B4B}"/>
              </a:ext>
            </a:extLst>
          </p:cNvPr>
          <p:cNvSpPr txBox="1">
            <a:spLocks/>
          </p:cNvSpPr>
          <p:nvPr/>
        </p:nvSpPr>
        <p:spPr>
          <a:xfrm>
            <a:off x="759269" y="1048030"/>
            <a:ext cx="9419204" cy="469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 kern="1200">
                <a:solidFill>
                  <a:srgbClr val="002E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Pretendard ExtraBold" panose="020009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solidFill>
                  <a:schemeClr val="tx1"/>
                </a:solidFill>
              </a:rPr>
              <a:t>2026</a:t>
            </a:r>
            <a:r>
              <a:rPr lang="ko-KR" altLang="en-US" sz="2400" b="1" dirty="0">
                <a:solidFill>
                  <a:schemeClr val="tx1"/>
                </a:solidFill>
              </a:rPr>
              <a:t>년 제</a:t>
            </a:r>
            <a:r>
              <a:rPr lang="en-US" altLang="ko-KR" sz="2400" b="1" dirty="0">
                <a:solidFill>
                  <a:schemeClr val="tx1"/>
                </a:solidFill>
              </a:rPr>
              <a:t>8</a:t>
            </a:r>
            <a:r>
              <a:rPr lang="ko-KR" altLang="en-US" sz="2400" b="1" dirty="0">
                <a:solidFill>
                  <a:schemeClr val="tx1"/>
                </a:solidFill>
              </a:rPr>
              <a:t>회 </a:t>
            </a:r>
            <a:r>
              <a:rPr lang="ko-KR" altLang="en-US" sz="2400" b="1" dirty="0" err="1">
                <a:solidFill>
                  <a:schemeClr val="tx1"/>
                </a:solidFill>
              </a:rPr>
              <a:t>한국코드페어</a:t>
            </a:r>
            <a:r>
              <a:rPr lang="ko-KR" altLang="en-US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</a:rPr>
              <a:t>SW</a:t>
            </a:r>
            <a:r>
              <a:rPr lang="ko-KR" altLang="en-US" sz="2400" b="1" dirty="0">
                <a:solidFill>
                  <a:schemeClr val="tx1"/>
                </a:solidFill>
              </a:rPr>
              <a:t>공모전 </a:t>
            </a:r>
            <a:r>
              <a:rPr lang="en-US" altLang="ko-KR" sz="2400" b="1" dirty="0">
                <a:solidFill>
                  <a:schemeClr val="tx1"/>
                </a:solidFill>
              </a:rPr>
              <a:t>2</a:t>
            </a:r>
            <a:r>
              <a:rPr lang="ko-KR" altLang="en-US" sz="2400" b="1" dirty="0">
                <a:solidFill>
                  <a:schemeClr val="tx1"/>
                </a:solidFill>
              </a:rPr>
              <a:t>차 온라인 예선 </a:t>
            </a:r>
            <a:endParaRPr lang="en-US" altLang="ko-KR" sz="2400" b="1" dirty="0">
              <a:solidFill>
                <a:schemeClr val="tx1"/>
              </a:solidFill>
            </a:endParaRPr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10AB7A38-A305-7538-59D7-9A6AA2779D29}"/>
              </a:ext>
            </a:extLst>
          </p:cNvPr>
          <p:cNvSpPr/>
          <p:nvPr/>
        </p:nvSpPr>
        <p:spPr>
          <a:xfrm>
            <a:off x="759270" y="5622886"/>
            <a:ext cx="5336730" cy="70073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63490" dist="182214" dir="1680000" sx="102451" sy="102451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A2192-94F0-8F13-1091-8BFA24FB1029}"/>
              </a:ext>
            </a:extLst>
          </p:cNvPr>
          <p:cNvSpPr txBox="1"/>
          <p:nvPr/>
        </p:nvSpPr>
        <p:spPr>
          <a:xfrm>
            <a:off x="837086" y="5742419"/>
            <a:ext cx="5149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팀명</a:t>
            </a: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제주 </a:t>
            </a:r>
            <a:r>
              <a:rPr lang="en-US" altLang="ko-KR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BTS (Beyond The Sound)</a:t>
            </a:r>
            <a:endParaRPr lang="ko-KR" altLang="en-US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330000F8-72AA-D5FB-714D-0534A8558526}"/>
              </a:ext>
            </a:extLst>
          </p:cNvPr>
          <p:cNvSpPr txBox="1">
            <a:spLocks/>
          </p:cNvSpPr>
          <p:nvPr/>
        </p:nvSpPr>
        <p:spPr>
          <a:xfrm>
            <a:off x="719786" y="2106297"/>
            <a:ext cx="6374631" cy="8616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400" b="1" spc="-15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작품명</a:t>
            </a:r>
            <a:r>
              <a:rPr lang="ko-KR" altLang="en-US" sz="5400" b="1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5400" b="1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5400" b="1" spc="-15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소리봄</a:t>
            </a:r>
            <a:r>
              <a:rPr lang="en-US" altLang="ko-KR" sz="5400" b="1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endParaRPr lang="ko-KR" altLang="en-US" sz="5400" b="1" spc="-15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20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4BC062-1696-690C-E39F-40C6CBE818AE}"/>
              </a:ext>
            </a:extLst>
          </p:cNvPr>
          <p:cNvSpPr txBox="1"/>
          <p:nvPr/>
        </p:nvSpPr>
        <p:spPr>
          <a:xfrm>
            <a:off x="976233" y="1065491"/>
            <a:ext cx="2902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CONTENTS</a:t>
            </a:r>
            <a:endParaRPr lang="ko-KR" altLang="en-US" sz="2800" b="1" spc="-15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7B748-0743-0757-1303-C3F33A424B98}"/>
              </a:ext>
            </a:extLst>
          </p:cNvPr>
          <p:cNvSpPr txBox="1"/>
          <p:nvPr/>
        </p:nvSpPr>
        <p:spPr>
          <a:xfrm>
            <a:off x="1019162" y="873624"/>
            <a:ext cx="5206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제</a:t>
            </a:r>
            <a:r>
              <a:rPr lang="en-US" altLang="ko-KR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8</a:t>
            </a:r>
            <a:r>
              <a:rPr lang="ko-KR" altLang="en-US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회 </a:t>
            </a:r>
            <a:r>
              <a:rPr lang="ko-KR" altLang="en-US" sz="1400" spc="-15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한국코드페어</a:t>
            </a:r>
            <a:r>
              <a:rPr lang="ko-KR" altLang="en-US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SW</a:t>
            </a:r>
            <a:r>
              <a:rPr lang="ko-KR" altLang="en-US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공모전 </a:t>
            </a:r>
            <a:r>
              <a:rPr lang="en-US" altLang="ko-KR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spc="-15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 온라인 예선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51BD2-4855-C761-F23F-9C464AFC3A94}"/>
              </a:ext>
            </a:extLst>
          </p:cNvPr>
          <p:cNvSpPr txBox="1"/>
          <p:nvPr/>
        </p:nvSpPr>
        <p:spPr>
          <a:xfrm>
            <a:off x="865170" y="1903689"/>
            <a:ext cx="6196987" cy="438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01.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문제인식과 </a:t>
            </a:r>
            <a:r>
              <a:rPr lang="ko-KR" altLang="en-US" sz="3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소리봄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소개</a:t>
            </a: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자막</a:t>
            </a:r>
            <a:endParaRPr lang="en-US" altLang="ko-KR" sz="3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03.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화자 방향과 실제 </a:t>
            </a: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UI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화면</a:t>
            </a:r>
            <a:endParaRPr lang="en-US" altLang="ko-KR" sz="3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04.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그 외 기능</a:t>
            </a: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성능</a:t>
            </a:r>
            <a:r>
              <a:rPr lang="en-US" altLang="ko-KR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3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마무리 발언</a:t>
            </a:r>
            <a:endParaRPr lang="en-US" altLang="ko-KR" sz="3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406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33C823-0E64-E021-E3A1-8BC21DCE3278}"/>
              </a:ext>
            </a:extLst>
          </p:cNvPr>
          <p:cNvSpPr txBox="1"/>
          <p:nvPr/>
        </p:nvSpPr>
        <p:spPr>
          <a:xfrm>
            <a:off x="487180" y="1146747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93904"/>
            <a:ext cx="8229600" cy="204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dirty="0" err="1">
                <a:solidFill>
                  <a:srgbClr val="64748B"/>
                </a:solidFill>
                <a:latin typeface="맑은 고딕"/>
                <a:ea typeface="맑은 고딕"/>
              </a:rPr>
              <a:t>문제</a:t>
            </a:r>
            <a:r>
              <a:rPr lang="ko-KR" altLang="en-US" sz="1300" b="1" dirty="0">
                <a:solidFill>
                  <a:srgbClr val="64748B"/>
                </a:solidFill>
                <a:latin typeface="맑은 고딕"/>
                <a:ea typeface="맑은 고딕"/>
              </a:rPr>
              <a:t>인식과</a:t>
            </a:r>
            <a:r>
              <a:rPr sz="1300" b="1" i="0" dirty="0">
                <a:solidFill>
                  <a:srgbClr val="64748B"/>
                </a:solidFill>
                <a:latin typeface="맑은 고딕"/>
                <a:ea typeface="맑은 고딕"/>
              </a:rPr>
              <a:t> </a:t>
            </a:r>
            <a:r>
              <a:rPr sz="1300" b="1" i="0" dirty="0" err="1">
                <a:solidFill>
                  <a:srgbClr val="64748B"/>
                </a:solidFill>
                <a:latin typeface="맑은 고딕"/>
                <a:ea typeface="맑은 고딕"/>
              </a:rPr>
              <a:t>소리봄</a:t>
            </a:r>
            <a:r>
              <a:rPr sz="1300" b="1" i="0" dirty="0">
                <a:solidFill>
                  <a:srgbClr val="64748B"/>
                </a:solidFill>
                <a:latin typeface="맑은 고딕"/>
                <a:ea typeface="맑은 고딕"/>
              </a:rPr>
              <a:t> </a:t>
            </a:r>
            <a:r>
              <a:rPr sz="1300" b="1" i="0" dirty="0" err="1">
                <a:solidFill>
                  <a:srgbClr val="64748B"/>
                </a:solidFill>
                <a:latin typeface="맑은 고딕"/>
                <a:ea typeface="맑은 고딕"/>
              </a:rPr>
              <a:t>소개</a:t>
            </a:r>
            <a:endParaRPr sz="1300" b="1" i="0" dirty="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 dirty="0" err="1">
                <a:solidFill>
                  <a:srgbClr val="0F172A"/>
                </a:solidFill>
                <a:latin typeface="맑은 고딕"/>
                <a:ea typeface="맑은 고딕"/>
              </a:rPr>
              <a:t>교실은</a:t>
            </a:r>
            <a:r>
              <a:rPr sz="3000" b="1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맑은 고딕"/>
                <a:ea typeface="맑은 고딕"/>
              </a:rPr>
              <a:t>소리로</a:t>
            </a:r>
            <a:r>
              <a:rPr sz="3000" b="1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맑은 고딕"/>
                <a:ea typeface="맑은 고딕"/>
              </a:rPr>
              <a:t>굴러</a:t>
            </a:r>
            <a:r>
              <a:rPr lang="ko-KR" altLang="en-US" sz="3000" b="1" i="0" dirty="0">
                <a:solidFill>
                  <a:srgbClr val="0F172A"/>
                </a:solidFill>
                <a:latin typeface="맑은 고딕"/>
                <a:ea typeface="맑은 고딕"/>
              </a:rPr>
              <a:t>갑니다</a:t>
            </a:r>
            <a:endParaRPr sz="3000" b="1" i="0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943600" cy="78638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212848"/>
            <a:ext cx="292608" cy="292608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5029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여러 명이 말할 때   </a:t>
            </a: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누가·어디서 말하는지 알기 어렵다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98648"/>
            <a:ext cx="5943600" cy="78638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145536"/>
            <a:ext cx="292608" cy="292608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898648"/>
            <a:ext cx="5029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말이 아닌 소리   </a:t>
            </a: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이름 호명·종소리·경보를 놓친다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31335"/>
            <a:ext cx="5943600" cy="78638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4078223"/>
            <a:ext cx="292608" cy="292608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831335"/>
            <a:ext cx="5029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실시간·복습   </a:t>
            </a: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수업을 따라가기도, 되짚기도 어렵다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64024"/>
            <a:ext cx="5943600" cy="78638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5010912"/>
            <a:ext cx="292608" cy="292608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764024"/>
            <a:ext cx="5029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발화의 어려움   </a:t>
            </a: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말하기 힘들어 참여에서 밀려난다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965960"/>
            <a:ext cx="4892040" cy="3657600"/>
          </a:xfrm>
          <a:prstGeom prst="roundRect">
            <a:avLst>
              <a:gd name="adj" fmla="val 8000"/>
            </a:avLst>
          </a:prstGeom>
          <a:solidFill>
            <a:srgbClr val="0A2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286000"/>
            <a:ext cx="4206240" cy="220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dirty="0" err="1">
                <a:solidFill>
                  <a:srgbClr val="F59E0B"/>
                </a:solidFill>
                <a:latin typeface="맑은 고딕"/>
                <a:ea typeface="맑은 고딕"/>
              </a:rPr>
              <a:t>인공와우</a:t>
            </a:r>
            <a:r>
              <a:rPr sz="1400" b="1" i="0" dirty="0">
                <a:solidFill>
                  <a:srgbClr val="F59E0B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맑은 고딕"/>
                <a:ea typeface="맑은 고딕"/>
              </a:rPr>
              <a:t>사용</a:t>
            </a:r>
            <a:r>
              <a:rPr sz="1400" b="1" i="0" dirty="0">
                <a:solidFill>
                  <a:srgbClr val="F59E0B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맑은 고딕"/>
                <a:ea typeface="맑은 고딕"/>
              </a:rPr>
              <a:t>당사자</a:t>
            </a:r>
            <a:r>
              <a:rPr lang="ko-KR" altLang="en-US" sz="1400" b="1" i="0" dirty="0">
                <a:solidFill>
                  <a:srgbClr val="F59E0B"/>
                </a:solidFill>
                <a:latin typeface="맑은 고딕"/>
                <a:ea typeface="맑은 고딕"/>
              </a:rPr>
              <a:t>의</a:t>
            </a:r>
            <a:r>
              <a:rPr sz="1400" b="1" i="0" dirty="0">
                <a:solidFill>
                  <a:srgbClr val="F59E0B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맑은 고딕"/>
                <a:ea typeface="맑은 고딕"/>
              </a:rPr>
              <a:t>자문</a:t>
            </a:r>
            <a:endParaRPr sz="1400" b="1" i="0" dirty="0">
              <a:solidFill>
                <a:srgbClr val="F59E0B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0" y="2880360"/>
            <a:ext cx="4297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“</a:t>
            </a: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자막보다</a:t>
            </a:r>
            <a:endParaRPr sz="25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누가</a:t>
            </a: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말하는지</a:t>
            </a: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아는</a:t>
            </a: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것이</a:t>
            </a:r>
            <a:endParaRPr sz="25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더 </a:t>
            </a:r>
            <a:r>
              <a:rPr sz="25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급하다</a:t>
            </a:r>
            <a:r>
              <a:rPr sz="2500" b="1" i="0" dirty="0">
                <a:solidFill>
                  <a:srgbClr val="FFFFFF"/>
                </a:solidFill>
                <a:latin typeface="맑은 고딕"/>
                <a:ea typeface="맑은 고딕"/>
              </a:rPr>
              <a:t>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029200"/>
            <a:ext cx="4206240" cy="428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300" dirty="0">
                <a:solidFill>
                  <a:srgbClr val="CFDEF2"/>
                </a:solidFill>
                <a:latin typeface="맑은 고딕"/>
                <a:ea typeface="맑은 고딕"/>
              </a:rPr>
              <a:t>따라서 우리는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화자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방향을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자막과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동급의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핵심</a:t>
            </a:r>
            <a:r>
              <a:rPr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기능으로</a:t>
            </a:r>
            <a:r>
              <a:rPr lang="en-US"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개발해야 한다</a:t>
            </a:r>
            <a:r>
              <a:rPr lang="en-US" altLang="ko-KR" sz="1300" b="0" i="0" dirty="0">
                <a:solidFill>
                  <a:srgbClr val="CFDEF2"/>
                </a:solidFill>
                <a:latin typeface="맑은 고딕"/>
                <a:ea typeface="맑은 고딕"/>
              </a:rPr>
              <a:t>!</a:t>
            </a:r>
            <a:endParaRPr sz="1300" b="0" i="0" dirty="0">
              <a:solidFill>
                <a:srgbClr val="CFDEF2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3908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93904"/>
            <a:ext cx="8229600" cy="204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lang="ko-KR" altLang="en-US" sz="1300" b="1" dirty="0">
                <a:solidFill>
                  <a:srgbClr val="64748B"/>
                </a:solidFill>
                <a:ea typeface="맑은 고딕"/>
              </a:rPr>
              <a:t>문제인식과 </a:t>
            </a:r>
            <a:r>
              <a:rPr lang="ko-KR" altLang="en-US" sz="1300" b="1" dirty="0" err="1">
                <a:solidFill>
                  <a:srgbClr val="64748B"/>
                </a:solidFill>
                <a:ea typeface="맑은 고딕"/>
              </a:rPr>
              <a:t>소리봄</a:t>
            </a:r>
            <a:r>
              <a:rPr lang="ko-KR" altLang="en-US" sz="1300" b="1" dirty="0">
                <a:solidFill>
                  <a:srgbClr val="64748B"/>
                </a:solidFill>
                <a:ea typeface="맑은 고딕"/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소리봄 — 인터넷 없이 동작하는 교실 단말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09728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모든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처리를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작은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AI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컴퓨터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(Jetson)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안에서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— </a:t>
            </a:r>
            <a:r>
              <a:rPr lang="ko-KR" altLang="en-US" sz="1600" b="1" dirty="0">
                <a:solidFill>
                  <a:srgbClr val="1C5CD6"/>
                </a:solidFill>
                <a:latin typeface="맑은 고딕"/>
                <a:ea typeface="맑은 고딕"/>
              </a:rPr>
              <a:t>교실 내에서 일어난 일은 교실에만 머무르게 한다</a:t>
            </a:r>
            <a:r>
              <a:rPr lang="en-US" altLang="ko-KR" sz="1600" b="1" dirty="0">
                <a:solidFill>
                  <a:srgbClr val="1C5CD6"/>
                </a:solidFill>
                <a:latin typeface="맑은 고딕"/>
                <a:ea typeface="맑은 고딕"/>
              </a:rPr>
              <a:t>!</a:t>
            </a:r>
            <a:endParaRPr sz="1600" b="1" i="0" dirty="0">
              <a:solidFill>
                <a:srgbClr val="1C5CD6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2070201" cy="16002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926079"/>
            <a:ext cx="207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A2E86"/>
                </a:solidFill>
                <a:latin typeface="맑은 고딕"/>
                <a:ea typeface="맑은 고딕"/>
              </a:rPr>
              <a:t>자막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88732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말을 실시간 글자로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4289" y="2651760"/>
            <a:ext cx="2070201" cy="16002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4289" y="2926079"/>
            <a:ext cx="207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A2E86"/>
                </a:solidFill>
                <a:latin typeface="맑은 고딕"/>
                <a:ea typeface="맑은 고딕"/>
              </a:rPr>
              <a:t>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729" y="3474720"/>
            <a:ext cx="188732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누가·어디서 말하는지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5659" y="2651760"/>
            <a:ext cx="2070201" cy="16002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5659" y="2926079"/>
            <a:ext cx="207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A2E86"/>
                </a:solidFill>
                <a:latin typeface="맑은 고딕"/>
                <a:ea typeface="맑은 고딕"/>
              </a:rPr>
              <a:t>말하기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7099" y="3474720"/>
            <a:ext cx="188732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타이핑을 목소리로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7028" y="2651760"/>
            <a:ext cx="2070201" cy="16002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28" y="2926079"/>
            <a:ext cx="207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A2E86"/>
                </a:solidFill>
                <a:latin typeface="맑은 고딕"/>
                <a:ea typeface="맑은 고딕"/>
              </a:rPr>
              <a:t>이름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8468" y="3474720"/>
            <a:ext cx="188732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내 이름이 불리면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8398" y="2651760"/>
            <a:ext cx="2070201" cy="16002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88398" y="2926079"/>
            <a:ext cx="207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A2E86"/>
                </a:solidFill>
                <a:latin typeface="맑은 고딕"/>
                <a:ea typeface="맑은 고딕"/>
              </a:rPr>
              <a:t>수업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9838" y="3474720"/>
            <a:ext cx="188732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전체 발화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10972800" cy="220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핵심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세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기능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자막</a:t>
            </a:r>
            <a:r>
              <a:rPr 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방향</a:t>
            </a:r>
            <a:r>
              <a:rPr lang="en-US" sz="1400" dirty="0">
                <a:solidFill>
                  <a:srgbClr val="0F172A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말하기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)에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이름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알림</a:t>
            </a:r>
            <a:r>
              <a:rPr 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</a:rPr>
              <a:t>및</a:t>
            </a:r>
            <a:r>
              <a:rPr 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수업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기록</a:t>
            </a:r>
            <a:r>
              <a:rPr 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기능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을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더해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한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화면에서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동작</a:t>
            </a:r>
            <a:r>
              <a:rPr lang="ko-KR" altLang="en-US"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하게 </a:t>
            </a:r>
            <a:r>
              <a:rPr lang="ko-KR" altLang="en-US"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했습니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4748B"/>
                </a:solidFill>
                <a:latin typeface="맑은 고딕"/>
                <a:ea typeface="맑은 고딕"/>
              </a:rPr>
              <a:t>실시간 자막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실시간 자막 — 어떻게 만드나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1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마이크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9503" y="2295144"/>
            <a:ext cx="469391" cy="292608"/>
          </a:xfrm>
          <a:prstGeom prst="rightArrow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59480" y="196596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1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9480" y="196596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말하는 구간만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(VAD)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6064" y="2295144"/>
            <a:ext cx="469391" cy="292608"/>
          </a:xfrm>
          <a:prstGeom prst="rightArrow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16039" y="196596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1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6039" y="196596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음성인식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(작은 모델)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02623" y="2295144"/>
            <a:ext cx="469391" cy="292608"/>
          </a:xfrm>
          <a:prstGeom prst="rightArrow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72600" y="196596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1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96596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맑은 고딕"/>
                <a:ea typeface="맑은 고딕"/>
              </a:rPr>
              <a:t>자막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11155680" cy="2788920"/>
          </a:xfrm>
          <a:prstGeom prst="roundRect">
            <a:avLst>
              <a:gd name="adj" fmla="val 8000"/>
            </a:avLst>
          </a:prstGeom>
          <a:solidFill>
            <a:srgbClr val="0A2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9E0B"/>
                </a:solidFill>
                <a:latin typeface="맑은 고딕"/>
                <a:ea typeface="맑은 고딕"/>
              </a:rPr>
              <a:t>핵심 발견 — 모델보다 ‘단어’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작은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31596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9EC0F0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1596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0392B"/>
                </a:solidFill>
                <a:latin typeface="맑은 고딕"/>
                <a:ea typeface="맑은 고딕"/>
              </a:rPr>
              <a:t>과막성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큰 모델 (medium)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84632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9EC0F0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0392B"/>
                </a:solidFill>
                <a:latin typeface="맑은 고딕"/>
                <a:ea typeface="맑은 고딕"/>
              </a:rPr>
              <a:t>광학성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7667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작은 모델 + 과목 용어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376672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9EC0F0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766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59E5A"/>
                </a:solidFill>
                <a:latin typeface="맑은 고딕"/>
                <a:ea typeface="맑은 고딕"/>
              </a:rPr>
              <a:t>광합성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315968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FDEF2"/>
                </a:solidFill>
                <a:latin typeface="맑은 고딕"/>
                <a:ea typeface="맑은 고딕"/>
              </a:rPr>
              <a:t>큰 모델은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FDEF2"/>
                </a:solidFill>
                <a:latin typeface="맑은 고딕"/>
                <a:ea typeface="맑은 고딕"/>
              </a:rPr>
              <a:t>메모리만 쓰고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FDEF2"/>
                </a:solidFill>
                <a:latin typeface="맑은 고딕"/>
                <a:ea typeface="맑은 고딕"/>
              </a:rPr>
              <a:t>정확도 이득 없음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4748B"/>
                </a:solidFill>
                <a:latin typeface="맑은 고딕"/>
                <a:ea typeface="맑은 고딕"/>
              </a:rPr>
              <a:t>실시간 자막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자막 정확도 — 숫자로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200400" cy="219456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15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 i="0">
                <a:solidFill>
                  <a:srgbClr val="159E5A"/>
                </a:solidFill>
                <a:latin typeface="맑은 고딕"/>
                <a:ea typeface="맑은 고딕"/>
              </a:rPr>
              <a:t>3.2%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맑은 고딕"/>
                <a:ea typeface="맑은 고딕"/>
              </a:rPr>
              <a:t>실사용 5과목 평균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맑은 고딕"/>
                <a:ea typeface="맑은 고딕"/>
              </a:rPr>
              <a:t>문자오류율(CER)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965960"/>
            <a:ext cx="7680960" cy="438912"/>
          </a:xfrm>
          <a:prstGeom prst="roundRect">
            <a:avLst>
              <a:gd name="adj" fmla="val 4000"/>
            </a:avLst>
          </a:prstGeom>
          <a:solidFill>
            <a:srgbClr val="0A2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9659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9659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404872"/>
            <a:ext cx="7680960" cy="530352"/>
          </a:xfrm>
          <a:prstGeom prst="roundRect">
            <a:avLst>
              <a:gd name="adj" fmla="val 0"/>
            </a:avLst>
          </a:prstGeom>
          <a:solidFill>
            <a:srgbClr val="F6F9FD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2404872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맑은 고딕"/>
                <a:ea typeface="맑은 고딕"/>
              </a:rPr>
              <a:t>통제 녹음(대본)—조용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04872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04872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맑은 고딕"/>
                <a:ea typeface="맑은 고딕"/>
              </a:rPr>
              <a:t>이상적 조건(참고)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935224"/>
            <a:ext cx="7680960" cy="53035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935224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맑은 고딕"/>
                <a:ea typeface="맑은 고딕"/>
              </a:rPr>
              <a:t>통제 녹음(대본)—잡음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35224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35224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맑은 고딕"/>
                <a:ea typeface="맑은 고딕"/>
              </a:rPr>
              <a:t>잡음에도 견고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465576"/>
            <a:ext cx="7680960" cy="530352"/>
          </a:xfrm>
          <a:prstGeom prst="roundRect">
            <a:avLst>
              <a:gd name="adj" fmla="val 0"/>
            </a:avLst>
          </a:prstGeom>
          <a:solidFill>
            <a:srgbClr val="F6F9FD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3465576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맑은 고딕"/>
                <a:ea typeface="맑은 고딕"/>
              </a:rPr>
              <a:t>실사용 5과목 평균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465576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59E5A"/>
                </a:solidFill>
                <a:latin typeface="맑은 고딕"/>
                <a:ea typeface="맑은 고딕"/>
              </a:rPr>
              <a:t>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65576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맑은 고딕"/>
                <a:ea typeface="맑은 고딕"/>
              </a:rPr>
              <a:t>실제 성능 대표값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995927"/>
            <a:ext cx="7680960" cy="53035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3995927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맑은 고딕"/>
                <a:ea typeface="맑은 고딕"/>
              </a:rPr>
              <a:t>빠른 자연발화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995927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약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995927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맑은 고딕"/>
                <a:ea typeface="맑은 고딕"/>
              </a:rPr>
              <a:t>작은 모델의 한계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805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6177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C5CD6"/>
                </a:solidFill>
                <a:latin typeface="맑은 고딕"/>
                <a:ea typeface="맑은 고딕"/>
              </a:rPr>
              <a:t>~0.6초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4748B"/>
                </a:solidFill>
                <a:latin typeface="맑은 고딕"/>
                <a:ea typeface="맑은 고딕"/>
              </a:rPr>
              <a:t>말이 끝나면 약 0.6초 뒤 자막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526280"/>
            <a:ext cx="76809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정직하게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: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또박또박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말하면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오류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1~2%지만,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빠른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자연발화에선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약 15%로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오른다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. 잘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나온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값도</a:t>
            </a:r>
            <a:r>
              <a:rPr lang="en-US"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,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아쉬운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값도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함께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dirty="0">
                <a:solidFill>
                  <a:srgbClr val="0F172A"/>
                </a:solidFill>
                <a:latin typeface="맑은 고딕"/>
                <a:ea typeface="맑은 고딕"/>
              </a:rPr>
              <a:t>솔직하게 말씀드립니다</a:t>
            </a:r>
            <a:r>
              <a:rPr sz="1300" b="0" i="0" dirty="0">
                <a:solidFill>
                  <a:srgbClr val="0F172A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93904"/>
            <a:ext cx="8229600" cy="204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300" b="1" dirty="0">
                <a:solidFill>
                  <a:srgbClr val="64748B"/>
                </a:solidFill>
                <a:latin typeface="맑은 고딕"/>
                <a:ea typeface="맑은 고딕"/>
              </a:rPr>
              <a:t>화자 방향과 실제 </a:t>
            </a:r>
            <a:r>
              <a:rPr lang="en-US" altLang="ko-KR" sz="1300" b="1" dirty="0">
                <a:solidFill>
                  <a:srgbClr val="64748B"/>
                </a:solidFill>
                <a:latin typeface="맑은 고딕"/>
                <a:ea typeface="맑은 고딕"/>
              </a:rPr>
              <a:t>UI </a:t>
            </a:r>
            <a:r>
              <a:rPr lang="ko-KR" altLang="en-US" sz="1300" b="1" dirty="0">
                <a:solidFill>
                  <a:srgbClr val="64748B"/>
                </a:solidFill>
                <a:latin typeface="맑은 고딕"/>
                <a:ea typeface="맑은 고딕"/>
              </a:rPr>
              <a:t>화면</a:t>
            </a:r>
            <a:endParaRPr sz="1300" b="1" i="0" dirty="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누가·어디서 — 화자 방향(DOA)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6583680" cy="1035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같은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소리</a:t>
            </a:r>
            <a:r>
              <a:rPr lang="ko-KR" alt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라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도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가까운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마이크에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먼저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도착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이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도착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시간차로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방향을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계산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(</a:t>
            </a:r>
            <a:r>
              <a:rPr lang="en-US"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ReSpeaker</a:t>
            </a:r>
            <a:r>
              <a:rPr 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마이크의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빔포밍</a:t>
            </a:r>
            <a:r>
              <a:rPr 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기능 활용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).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계산은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마이크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전용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칩이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맡고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,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우리는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각도만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읽어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연산을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아낀다</a:t>
            </a:r>
            <a:r>
              <a:rPr sz="1600" b="0" i="0" dirty="0">
                <a:solidFill>
                  <a:srgbClr val="0F172A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566160"/>
            <a:ext cx="2011680" cy="2011680"/>
          </a:xfrm>
          <a:prstGeom prst="ellipse">
            <a:avLst/>
          </a:prstGeom>
          <a:solidFill>
            <a:srgbClr val="F4F7FC"/>
          </a:solidFill>
          <a:ln w="19050">
            <a:solidFill>
              <a:srgbClr val="1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93251" y="3930508"/>
            <a:ext cx="274320" cy="274320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84588" y="3930508"/>
            <a:ext cx="274320" cy="274320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84588" y="4939171"/>
            <a:ext cx="274320" cy="274320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93251" y="4939171"/>
            <a:ext cx="274320" cy="274320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4채널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마이크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011680"/>
            <a:ext cx="4069080" cy="3291840"/>
          </a:xfrm>
          <a:prstGeom prst="roundRect">
            <a:avLst>
              <a:gd name="adj" fmla="val 8000"/>
            </a:avLst>
          </a:prstGeom>
          <a:solidFill>
            <a:srgbClr val="0A2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251460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6600" b="1" i="0">
                <a:solidFill>
                  <a:srgbClr val="F59E0B"/>
                </a:solidFill>
                <a:latin typeface="맑은 고딕"/>
                <a:ea typeface="맑은 고딕"/>
              </a:rPr>
              <a:t>1.5°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70332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화자 방향 평균 오차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97680"/>
            <a:ext cx="3520440" cy="642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처음엔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컸는데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원인은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기계가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아니라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‘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서는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위치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’ </a:t>
            </a:r>
            <a:r>
              <a:rPr lang="ko-KR" altLang="en-US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가 문제였습니다</a:t>
            </a:r>
            <a:r>
              <a:rPr lang="en-US" altLang="ko-KR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. </a:t>
            </a:r>
            <a:r>
              <a:rPr lang="ko-KR" altLang="en-US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문제 인식 후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LED로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정확</a:t>
            </a:r>
            <a:r>
              <a:rPr lang="ko-KR" altLang="en-US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한 위치에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서서</a:t>
            </a:r>
            <a:r>
              <a:rPr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CFDEF2"/>
                </a:solidFill>
                <a:latin typeface="맑은 고딕"/>
                <a:ea typeface="맑은 고딕"/>
              </a:rPr>
              <a:t>보정</a:t>
            </a:r>
            <a:r>
              <a:rPr lang="ko-KR" altLang="en-US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했습니다</a:t>
            </a:r>
            <a:r>
              <a:rPr lang="en-US" altLang="ko-KR" sz="1200" b="0" i="0" dirty="0">
                <a:solidFill>
                  <a:srgbClr val="CFDEF2"/>
                </a:solidFill>
                <a:latin typeface="맑은 고딕"/>
                <a:ea typeface="맑은 고딕"/>
              </a:rPr>
              <a:t>.</a:t>
            </a:r>
            <a:endParaRPr sz="1200" b="0" i="0" dirty="0">
              <a:solidFill>
                <a:srgbClr val="CFDE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93904"/>
            <a:ext cx="8229600" cy="204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lang="ko-KR" altLang="en-US" sz="1300" b="1" dirty="0">
                <a:solidFill>
                  <a:srgbClr val="64748B"/>
                </a:solidFill>
                <a:ea typeface="맑은 고딕"/>
              </a:rPr>
              <a:t>화자 방향과 실제 </a:t>
            </a:r>
            <a:r>
              <a:rPr lang="en-US" altLang="ko-KR" sz="1300" b="1" dirty="0">
                <a:solidFill>
                  <a:srgbClr val="64748B"/>
                </a:solidFill>
                <a:ea typeface="맑은 고딕"/>
              </a:rPr>
              <a:t>UI </a:t>
            </a:r>
            <a:r>
              <a:rPr lang="ko-KR" altLang="en-US" sz="1300" b="1" dirty="0">
                <a:solidFill>
                  <a:srgbClr val="64748B"/>
                </a:solidFill>
                <a:ea typeface="맑은 고딕"/>
              </a:rPr>
              <a:t>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한 화면에 모으다</a:t>
            </a:r>
          </a:p>
        </p:txBody>
      </p:sp>
      <p:pic>
        <p:nvPicPr>
          <p:cNvPr id="5" name="Picture 4" descr="ui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874519"/>
            <a:ext cx="7477759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205740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2057400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자막 — 말이 실시간 글자로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06324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3063240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방향 화살표 — 소리 나는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06908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4069080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입력창 — 타이핑→발화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507492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5074920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맑은 고딕"/>
                <a:ea typeface="맑은 고딕"/>
              </a:rPr>
              <a:t>이름 알림 · 과목 선택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4748B"/>
                </a:solidFill>
                <a:latin typeface="맑은 고딕"/>
                <a:ea typeface="맑은 고딕"/>
              </a:rPr>
              <a:t>그 외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말하기 · 이름 알림 · 수업 기록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3535680" cy="37947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89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맑은 고딕"/>
                <a:ea typeface="맑은 고딕"/>
              </a:rPr>
              <a:t>양방향 말하기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289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4748B"/>
                </a:solidFill>
                <a:latin typeface="맑은 고딕"/>
                <a:ea typeface="맑은 고딕"/>
              </a:rPr>
              <a:t>타이핑하면 책상 위 스피커가 대신 말한다. 소리가 학생 자리에서 나 방향으로 화자를 인식.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289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>
                <a:solidFill>
                  <a:srgbClr val="1C5CD6"/>
                </a:solidFill>
                <a:latin typeface="맑은 고딕"/>
                <a:ea typeface="맑은 고딕"/>
              </a:rPr>
              <a:t>~1.8초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011680"/>
            <a:ext cx="3535680" cy="37947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2960" y="2377440"/>
            <a:ext cx="457200" cy="457200"/>
          </a:xfrm>
          <a:prstGeom prst="ellipse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2960" y="3017520"/>
            <a:ext cx="289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맑은 고딕"/>
                <a:ea typeface="맑은 고딕"/>
              </a:rPr>
              <a:t>이름 호명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960" y="3749039"/>
            <a:ext cx="289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4748B"/>
                </a:solidFill>
                <a:latin typeface="맑은 고딕"/>
                <a:ea typeface="맑은 고딕"/>
              </a:rPr>
              <a:t>자막에 학생 이름이 잡히면 화면에 알림을 띄운다.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011680"/>
            <a:ext cx="3535680" cy="37947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42960" y="2377440"/>
            <a:ext cx="457200" cy="457200"/>
          </a:xfrm>
          <a:prstGeom prst="ellipse">
            <a:avLst/>
          </a:prstGeom>
          <a:solidFill>
            <a:srgbClr val="15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2960" y="3017520"/>
            <a:ext cx="289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맑은 고딕"/>
                <a:ea typeface="맑은 고딕"/>
              </a:rPr>
              <a:t>수업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960" y="3749039"/>
            <a:ext cx="289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4748B"/>
                </a:solidFill>
                <a:latin typeface="맑은 고딕"/>
                <a:ea typeface="맑은 고딕"/>
              </a:rPr>
              <a:t>모든 발화를 있는 그대로 저장. 요약이 아니라 전체 기록 — 지어내지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713232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93904"/>
            <a:ext cx="8229600" cy="204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300" b="1" i="0" dirty="0">
                <a:solidFill>
                  <a:srgbClr val="64748B"/>
                </a:solidFill>
                <a:latin typeface="맑은 고딕"/>
                <a:ea typeface="맑은 고딕"/>
              </a:rPr>
              <a:t>성능 측정값 및 </a:t>
            </a:r>
            <a:r>
              <a:rPr sz="1300" b="1" i="0" dirty="0" err="1">
                <a:solidFill>
                  <a:srgbClr val="64748B"/>
                </a:solidFill>
                <a:latin typeface="맑은 고딕"/>
                <a:ea typeface="맑은 고딕"/>
              </a:rPr>
              <a:t>마무리</a:t>
            </a:r>
            <a:endParaRPr sz="1300" b="1" i="0" dirty="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맑은 고딕"/>
                <a:ea typeface="맑은 고딕"/>
              </a:rPr>
              <a:t>차별성과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A2E86"/>
                </a:solidFill>
                <a:latin typeface="맑은 고딕"/>
                <a:ea typeface="맑은 고딕"/>
              </a:rPr>
              <a:t>완전 오프라인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96596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A2E86"/>
                </a:solidFill>
                <a:latin typeface="맑은 고딕"/>
                <a:ea typeface="맑은 고딕"/>
              </a:rPr>
              <a:t>화자 방향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96596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35624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A2E86"/>
                </a:solidFill>
                <a:latin typeface="맑은 고딕"/>
                <a:ea typeface="맑은 고딕"/>
              </a:rPr>
              <a:t>양방향 말하기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976" y="196596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7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A2E86"/>
                </a:solidFill>
                <a:latin typeface="맑은 고딕"/>
                <a:ea typeface="맑은 고딕"/>
              </a:rPr>
              <a:t>‘모델보다 단어’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C5CD6"/>
                </a:solidFill>
                <a:latin typeface="맑은 고딕"/>
                <a:ea typeface="맑은 고딕"/>
              </a:rPr>
              <a:t>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1089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C5CD6"/>
                </a:solidFill>
                <a:latin typeface="맑은 고딕"/>
                <a:ea typeface="맑은 고딕"/>
              </a:rPr>
              <a:t>0.6초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7673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자막 지연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31089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C5CD6"/>
                </a:solidFill>
                <a:latin typeface="맑은 고딕"/>
                <a:ea typeface="맑은 고딕"/>
              </a:rPr>
              <a:t>1.8초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673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1089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C5CD6"/>
                </a:solidFill>
                <a:latin typeface="맑은 고딕"/>
                <a:ea typeface="맑은 고딕"/>
              </a:rPr>
              <a:t>1.5°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37673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4748B"/>
                </a:solidFill>
                <a:latin typeface="맑은 고딕"/>
                <a:ea typeface="맑은 고딕"/>
              </a:rPr>
              <a:t>방향 오차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11155680" cy="24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다음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단계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—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비음성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소리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감지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·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여러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화자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구분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·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케이스</a:t>
            </a:r>
            <a:r>
              <a:rPr sz="1400" b="0" i="0" dirty="0">
                <a:solidFill>
                  <a:srgbClr val="0F172A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  <a:ea typeface="맑은 고딕"/>
              </a:rPr>
              <a:t>일체화</a:t>
            </a:r>
            <a:endParaRPr sz="1400" b="0" i="0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0A2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1">
                <a:solidFill>
                  <a:srgbClr val="FFFFFF"/>
                </a:solidFill>
                <a:latin typeface="맑은 고딕"/>
                <a:ea typeface="맑은 고딕"/>
              </a:rPr>
              <a:t>소리가 보이면, 수업에 함께할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C48E27E-56CC-35E3-1EA0-9D52BD635222}"/>
              </a:ext>
            </a:extLst>
          </p:cNvPr>
          <p:cNvSpPr txBox="1">
            <a:spLocks/>
          </p:cNvSpPr>
          <p:nvPr/>
        </p:nvSpPr>
        <p:spPr>
          <a:xfrm>
            <a:off x="1199302" y="2023105"/>
            <a:ext cx="7079284" cy="1519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6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85756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5388</TotalTime>
  <Words>581</Words>
  <Application>Microsoft Office PowerPoint</Application>
  <PresentationFormat>와이드스크린</PresentationFormat>
  <Paragraphs>128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HY헤드라인M</vt:lpstr>
      <vt:lpstr>맑은 고딕</vt:lpstr>
      <vt:lpstr>프리젠테이션 4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아이엘</dc:creator>
  <cp:keywords/>
  <dc:description/>
  <cp:lastModifiedBy>BYEONG HO HWANG</cp:lastModifiedBy>
  <cp:revision>294</cp:revision>
  <cp:lastPrinted>2024-11-27T23:06:21Z</cp:lastPrinted>
  <dcterms:created xsi:type="dcterms:W3CDTF">2024-11-26T00:48:27Z</dcterms:created>
  <dcterms:modified xsi:type="dcterms:W3CDTF">2026-07-25T18:58:26Z</dcterms:modified>
  <cp:category/>
</cp:coreProperties>
</file>